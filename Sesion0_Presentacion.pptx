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8"/>
    <p:restoredTop sz="94610"/>
  </p:normalViewPr>
  <p:slideViewPr>
    <p:cSldViewPr snapToGrid="0" snapToObjects="1">
      <p:cViewPr>
        <p:scale>
          <a:sx n="107" d="100"/>
          <a:sy n="107" d="100"/>
        </p:scale>
        <p:origin x="472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E2D6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607040" y="-731520"/>
            <a:ext cx="2194560" cy="2194560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0927080" y="320040"/>
            <a:ext cx="1092322" cy="102401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1036" y="464911"/>
            <a:ext cx="698029" cy="6980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VITAMINAS TECNOLÓGICAS  ·  CAPACITACIÓN IA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Taller de IA Aplicada al Trabajo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40080" y="2971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0 · Fundamentos de IA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" y="3657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Expert Academy  ·  Sesión introductoria compartida (Grupos A, B y C)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919472"/>
            <a:ext cx="512064" cy="512064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502005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495604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Instructora: Liliana Bayona Castañeda  ·  Vitaminas Tecnológicas  ·  Ref. TEM-EEA-001-2026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vamos a recorrer hoy?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F2F3F7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— Mentimeter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71600" y="2148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encuadre: tu punto de partida con la IA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41832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F2F3F7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80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IA generativa?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371600" y="3063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central, analogía y roles que puede cumplir la IA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41832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3657600"/>
            <a:ext cx="548640" cy="548640"/>
          </a:xfrm>
          <a:prstGeom prst="ellipse">
            <a:avLst/>
          </a:prstGeom>
          <a:solidFill>
            <a:srgbClr val="F2F3F7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947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arte del prompting — RITA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371600" y="3977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Rol, Interacción, Tarea, Adaptabilidad + ejercicio guiado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418320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40080" y="4572000"/>
            <a:ext cx="548640" cy="548640"/>
          </a:xfrm>
          <a:prstGeom prst="ellipse">
            <a:avLst/>
          </a:prstGeom>
          <a:solidFill>
            <a:srgbClr val="F2F3F7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7091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y riesgos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371600" y="4892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Alucinaciones, confidencialidad y criterio de uso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418320" y="4617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40080" y="5486400"/>
            <a:ext cx="548640" cy="548640"/>
          </a:xfrm>
          <a:prstGeom prst="ellipse">
            <a:avLst/>
          </a:prstGeom>
          <a:solidFill>
            <a:srgbClr val="F2F3F7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62356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7160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— Kahoot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1371600" y="5806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de lo aprendido (si el tiempo lo permite)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418320" y="5532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64008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total: 2 horas  ·  14 participantes + instructora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INSTRUCTORA</a:t>
            </a:r>
            <a:endParaRPr lang="en-US" sz="1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312333"/>
            <a:ext cx="2822663" cy="2985347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0" y="1331459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Mg. Liliana Bayona Castañeda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474720" y="1880099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CONSULTORA EN TECNOLOGÍA E IA  ·  VITAMINAS TECNOLÓGICAS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474720" y="2383019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Ingeniera de Sistemas y Magíster en Gestión de la Información (Universitat Politècnica de Valencia, España). Docente universitaria en UCV (Algoritmos, Gestión de Proyectos, Metodología de Investigación). Especialista en gestión de calidad e información, con experiencia en ISO 9001, Power BI y SharePoint en proyectos de infraestructura.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474720" y="4297680"/>
            <a:ext cx="350215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3474720" y="4297680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Gestión de la Información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114032" y="4297680"/>
            <a:ext cx="207568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7114032" y="42976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de Sistemas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326880" y="4297680"/>
            <a:ext cx="163677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9326880" y="4297680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74720" y="4800600"/>
            <a:ext cx="383133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/>
          <p:nvPr/>
        </p:nvSpPr>
        <p:spPr>
          <a:xfrm>
            <a:off x="3474720" y="4800600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en Calidad ISO 9001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43216" y="4800600"/>
            <a:ext cx="284378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3"/>
          <p:cNvSpPr/>
          <p:nvPr/>
        </p:nvSpPr>
        <p:spPr>
          <a:xfrm>
            <a:off x="7443216" y="4800600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@vitaminas_tecnologicas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121B3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5"/>
          <p:cNvSpPr/>
          <p:nvPr/>
        </p:nvSpPr>
        <p:spPr>
          <a:xfrm>
            <a:off x="731520" y="54864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través de Vitaminas Tecnológicas, </a:t>
            </a:r>
            <a:r>
              <a:rPr lang="en-US" sz="1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acompaño</a:t>
            </a: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 equipos de trabajo en la adopción práctica de IA generativa: sin tecnicismos y con foco en resolver tareas reales del día a día.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· ENCUESTA DE ENCUADRE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empezar, cuéntanos sobre ti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desde tu celular en menti.com con el código que verás en pantalla. Solo toma 2 minutos.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2F3F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146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423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Nube de palabras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22960" y="30175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palabra: ¿qué es la IA para ti?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55080" y="21031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2F3F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6629400" y="2377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5146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2423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Escala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629400" y="30175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¿Usas herramientas de IA en tu trabajo diario? (de acuerdo / en desacuerdo)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443484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2F3F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Shape 12"/>
          <p:cNvSpPr/>
          <p:nvPr/>
        </p:nvSpPr>
        <p:spPr>
          <a:xfrm>
            <a:off x="822960" y="4709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8463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754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Opción múltiple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822960" y="53492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de estas herramientas has usado al menos una vez: ChatGPT, Gemini, Claude?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355080" y="443484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2F3F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Shape 16"/>
          <p:cNvSpPr/>
          <p:nvPr/>
        </p:nvSpPr>
        <p:spPr>
          <a:xfrm>
            <a:off x="6629400" y="4709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84632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0" y="4754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Pregunta abierta</a:t>
            </a: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6629400" y="53492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en una tarea repetitiva de tu día a día que te quita tiempo. Escríbela.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FUNDAMENTOS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IA generativa?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1E2D6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IA generativa no “sabe” cosas como una base de datos.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la palabra más probable que sigue, según patrones aprendidos de enormes cantidades de texto.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entiende lenguaje natural, contexto y matices — pero también por eso puede inventar con total seguridad (“alucinar”).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543800" y="182880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F5C84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786384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analogía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63840" y="25146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2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como el autocompletado de tu celular, pero con memoria de todo lo escrito en internet y la capacidad de razonar varios pasos hacia adelante.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863840" y="429768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600" i="1" dirty="0">
              <a:solidFill>
                <a:srgbClr val="121B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700" i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magia ni “una persona adentro”: es un sistema de predicción extremadamente sofisticado.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MARCO DE REFERENCIA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rol cumple la IA en cada tarea?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6887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útil que comparar herramientas es pensar en el rol que necesitas que cumpla la IA. A mayor rol “creador”, mayor responsabilidad de revisión de tu parte.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46967"/>
            <a:ext cx="3657600" cy="1783080"/>
          </a:xfrm>
          <a:prstGeom prst="roundRect">
            <a:avLst>
              <a:gd name="adj" fmla="val 3077"/>
            </a:avLst>
          </a:prstGeom>
          <a:solidFill>
            <a:srgbClr val="F2F3F7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6" name="Text 4"/>
          <p:cNvSpPr/>
          <p:nvPr/>
        </p:nvSpPr>
        <p:spPr>
          <a:xfrm>
            <a:off x="777240" y="238412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Espejo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749887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 y analiza lo que tú produces, sin decidir.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298527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EEA: Revisar un correo ya escrito y detectar tono o errores.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2246967"/>
            <a:ext cx="3657600" cy="1783080"/>
          </a:xfrm>
          <a:prstGeom prst="roundRect">
            <a:avLst>
              <a:gd name="adj" fmla="val 3077"/>
            </a:avLst>
          </a:prstGeom>
          <a:solidFill>
            <a:srgbClr val="F2F3F7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0" name="Text 8"/>
          <p:cNvSpPr/>
          <p:nvPr/>
        </p:nvSpPr>
        <p:spPr>
          <a:xfrm>
            <a:off x="4663440" y="238412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Informador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2749887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información organizada, sin sugerir acción.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3298527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EEA: Listar plantillas de mensajes de seguimiento por tipo de lead.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2246967"/>
            <a:ext cx="3657600" cy="1783080"/>
          </a:xfrm>
          <a:prstGeom prst="roundRect">
            <a:avLst>
              <a:gd name="adj" fmla="val 3077"/>
            </a:avLst>
          </a:prstGeom>
          <a:solidFill>
            <a:srgbClr val="F2F3F7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4" name="Text 12"/>
          <p:cNvSpPr/>
          <p:nvPr/>
        </p:nvSpPr>
        <p:spPr>
          <a:xfrm>
            <a:off x="8549640" y="238412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Interlocutor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49640" y="2749887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y responde de forma reactiva.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49640" y="3298527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EEA: Simular la respuesta de una alumna para practicar un guión.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58647"/>
            <a:ext cx="3657600" cy="1783080"/>
          </a:xfrm>
          <a:prstGeom prst="roundRect">
            <a:avLst>
              <a:gd name="adj" fmla="val 3077"/>
            </a:avLst>
          </a:prstGeom>
          <a:solidFill>
            <a:srgbClr val="F2F3F7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8" name="Text 16"/>
          <p:cNvSpPr/>
          <p:nvPr/>
        </p:nvSpPr>
        <p:spPr>
          <a:xfrm>
            <a:off x="777240" y="439580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7240" y="4761567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 en la ejecución, sin tomar el control.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5310207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EEA: Resumir el estado semanal de leads o de matrícula.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34840" y="4258647"/>
            <a:ext cx="3657600" cy="1783080"/>
          </a:xfrm>
          <a:prstGeom prst="roundRect">
            <a:avLst>
              <a:gd name="adj" fmla="val 3077"/>
            </a:avLst>
          </a:prstGeom>
          <a:solidFill>
            <a:srgbClr val="F2F3F7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22" name="Text 20"/>
          <p:cNvSpPr/>
          <p:nvPr/>
        </p:nvSpPr>
        <p:spPr>
          <a:xfrm>
            <a:off x="4663440" y="439580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experto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63440" y="4761567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 con criterio especializado.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5310207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EEA: Sugerir cómo estructurar una encuesta de nivelación.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21040" y="4258647"/>
            <a:ext cx="3657600" cy="1783080"/>
          </a:xfrm>
          <a:prstGeom prst="roundRect">
            <a:avLst>
              <a:gd name="adj" fmla="val 3077"/>
            </a:avLst>
          </a:prstGeom>
          <a:solidFill>
            <a:srgbClr val="F2F3F7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26" name="Text 24"/>
          <p:cNvSpPr/>
          <p:nvPr/>
        </p:nvSpPr>
        <p:spPr>
          <a:xfrm>
            <a:off x="8549640" y="439580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Creador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549640" y="4761567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contenido o soluciones de forma autónoma.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49640" y="5310207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EEA: Redactar variaciones de copy para testeo A/B.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BLOQUE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IA no reemplaza tu cerebro: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amplifica tus hábitos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465515" y="353885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E2D6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31275" y="381317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tus hábitos son pereza cognitiva...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1275" y="436181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...la IA la amplifica: decisiones opacas (“lo dijo la IA”), productos bonitos pero falsos, sesgos amplificados.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180515" y="353885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5C84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546275" y="381317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tus hábitos son curiosidad y criterio...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46275" y="436181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...la IA también los amplifica: mejor pensamiento (no menos), más opciones (no decisiones automáticas), más creatividad.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EL ARTE DEL PROMPTING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RITA para estructurar tu prompt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1E2D6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8862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debe ser la IA? Define el rol o personaje que debe asumir para esta tarea.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474720" y="192024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121B3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3474720" y="21488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3657600" y="3337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0" y="38862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debe interactuar contigo? Indica si debe preguntar antes de responder.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400800" y="192024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1E2D6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583680" y="3337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583680" y="38862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tiene que hacer, exactamente? Usa verbos de acción y describe el entregable.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9326880" y="192024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121B3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9326880" y="21488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9509760" y="3337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Adaptabilidad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509760" y="38862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adapta a tu contexto? Tono, extensión, idioma, nivel del público.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8885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RITA EN ACCIÓN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EEA: correo de traspaso Comercial → Académico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15390"/>
            <a:ext cx="5486400" cy="712038"/>
          </a:xfrm>
          <a:prstGeom prst="roundRect">
            <a:avLst>
              <a:gd name="adj" fmla="val 6000"/>
            </a:avLst>
          </a:prstGeom>
          <a:solidFill>
            <a:srgbClr val="FBE6E8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5" name="Text 3"/>
          <p:cNvSpPr/>
          <p:nvPr/>
        </p:nvSpPr>
        <p:spPr>
          <a:xfrm>
            <a:off x="777240" y="177761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C84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RITA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3365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“Escribe un correo para pasar un alumno a académico”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23106"/>
            <a:ext cx="457200" cy="457200"/>
          </a:xfrm>
          <a:prstGeom prst="ellipse">
            <a:avLst/>
          </a:prstGeom>
          <a:solidFill>
            <a:srgbClr val="1E2D6B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8" name="Text 6"/>
          <p:cNvSpPr/>
          <p:nvPr/>
        </p:nvSpPr>
        <p:spPr>
          <a:xfrm>
            <a:off x="548640" y="292310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92310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14600" y="292310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“Eres parte del equipo comercial de Elite Expert Academy, academia online de estética avanzada.”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3507371"/>
            <a:ext cx="457200" cy="457200"/>
          </a:xfrm>
          <a:prstGeom prst="ellipse">
            <a:avLst/>
          </a:prstGeom>
          <a:solidFill>
            <a:srgbClr val="1E2D6B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2" name="Text 10"/>
          <p:cNvSpPr/>
          <p:nvPr/>
        </p:nvSpPr>
        <p:spPr>
          <a:xfrm>
            <a:off x="548640" y="350737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3507371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14600" y="3507371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 falta algún dato de la alumna, pregúntamelo antes de redactar el correo.”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4067886"/>
            <a:ext cx="457200" cy="457200"/>
          </a:xfrm>
          <a:prstGeom prst="ellipse">
            <a:avLst/>
          </a:prstGeom>
          <a:solidFill>
            <a:srgbClr val="1E2D6B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6" name="Text 14"/>
          <p:cNvSpPr/>
          <p:nvPr/>
        </p:nvSpPr>
        <p:spPr>
          <a:xfrm>
            <a:off x="548640" y="406788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406788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14600" y="406788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“Escribe un correo formal de traspaso al área académica: nombre, curso, fecha de inicio y nivel previo.”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48640" y="4616526"/>
            <a:ext cx="457200" cy="457200"/>
          </a:xfrm>
          <a:prstGeom prst="ellipse">
            <a:avLst/>
          </a:prstGeom>
          <a:solidFill>
            <a:srgbClr val="1E2D6B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20" name="Text 18"/>
          <p:cNvSpPr/>
          <p:nvPr/>
        </p:nvSpPr>
        <p:spPr>
          <a:xfrm>
            <a:off x="548640" y="461652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461652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Adaptabilidad: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14600" y="461652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“Tono profesional y cálido, máximo 120 palabras, en español.”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48640" y="5308270"/>
            <a:ext cx="11064240" cy="1268876"/>
          </a:xfrm>
          <a:prstGeom prst="roundRect">
            <a:avLst>
              <a:gd name="adj" fmla="val 3871"/>
            </a:avLst>
          </a:prstGeom>
          <a:solidFill>
            <a:srgbClr val="E6F4E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731520" y="559992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b="1" kern="0" spc="150" dirty="0">
                <a:solidFill>
                  <a:srgbClr val="1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RITA — resultado en vivo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5892535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Ejecutamos este prompt en vivo en Claude y comparamos el resultado con el prompt sin RITA.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PRÁCTICA GUIADA (20 MIN)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Construye tu prompt con RITA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92701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trabaja sobre un caso propio. Escribe tu prompt en el chat de Meet — la instructora ejecutará algunos en vivo.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2328748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1E2D6B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6" name="Text 4"/>
          <p:cNvSpPr/>
          <p:nvPr/>
        </p:nvSpPr>
        <p:spPr>
          <a:xfrm>
            <a:off x="777240" y="26030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31517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Y SOPORTE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791788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 un mensaje de reactivación para un lead frío de hace 15 días.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43400" y="2328748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121B3A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0" name="Text 8"/>
          <p:cNvSpPr/>
          <p:nvPr/>
        </p:nvSpPr>
        <p:spPr>
          <a:xfrm>
            <a:off x="4572000" y="26030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0" y="31517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ACADÉMICO Y ADMINISTRATIVO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791788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 una respuesta estándar a una alumna que pregunta por su historial de pagos.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138160" y="2328748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1E2D6B"/>
          </a:solidFill>
          <a:ln/>
        </p:spPr>
        <p:txBody>
          <a:bodyPr/>
          <a:lstStyle/>
          <a:p>
            <a:endParaRPr lang="es-PE" sz="2400"/>
          </a:p>
        </p:txBody>
      </p:sp>
      <p:sp>
        <p:nvSpPr>
          <p:cNvPr id="14" name="Text 12"/>
          <p:cNvSpPr/>
          <p:nvPr/>
        </p:nvSpPr>
        <p:spPr>
          <a:xfrm>
            <a:off x="8366760" y="26030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C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66760" y="31517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Y CREATIVO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3791788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 3 variaciones de copy para un anuncio de un webinar gratuito.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LÍMITES Y RIESGOS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0801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riesgos, en términos simples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3236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F2F3F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822960" y="2106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27127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9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Alucinaciones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33868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puede inventar datos, nombres, cifras o fuentes con total seguridad, sin avisar que no está segura.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895600"/>
            <a:ext cx="3108960" cy="9144"/>
          </a:xfrm>
          <a:prstGeom prst="rect">
            <a:avLst/>
          </a:prstGeom>
          <a:solidFill>
            <a:srgbClr val="E5E5EA"/>
          </a:solidFill>
          <a:ln/>
        </p:spPr>
        <p:txBody>
          <a:bodyPr/>
          <a:lstStyle/>
          <a:p>
            <a:pPr algn="just"/>
            <a:endParaRPr lang="es-PE" sz="2400"/>
          </a:p>
        </p:txBody>
      </p:sp>
      <p:sp>
        <p:nvSpPr>
          <p:cNvPr id="10" name="Text 7"/>
          <p:cNvSpPr/>
          <p:nvPr/>
        </p:nvSpPr>
        <p:spPr>
          <a:xfrm>
            <a:off x="822960" y="50327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i="1" dirty="0">
                <a:solidFill>
                  <a:srgbClr val="1E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cualquier dato concreto que genere la IA debe verificarse antes de usarse.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89120" y="183236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F2F3F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Shape 9"/>
          <p:cNvSpPr/>
          <p:nvPr/>
        </p:nvSpPr>
        <p:spPr>
          <a:xfrm>
            <a:off x="4663440" y="2106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27127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2929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4663440" y="33868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escribes en una IA puede no ser privado, según la herramienta y configuración.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663440" y="4895600"/>
            <a:ext cx="3108960" cy="9144"/>
          </a:xfrm>
          <a:prstGeom prst="rect">
            <a:avLst/>
          </a:prstGeom>
          <a:solidFill>
            <a:srgbClr val="E5E5EA"/>
          </a:solidFill>
          <a:ln/>
        </p:spPr>
        <p:txBody>
          <a:bodyPr/>
          <a:lstStyle/>
          <a:p>
            <a:pPr algn="just"/>
            <a:endParaRPr lang="es-PE" sz="2400"/>
          </a:p>
        </p:txBody>
      </p:sp>
      <p:sp>
        <p:nvSpPr>
          <p:cNvPr id="17" name="Text 13"/>
          <p:cNvSpPr/>
          <p:nvPr/>
        </p:nvSpPr>
        <p:spPr>
          <a:xfrm>
            <a:off x="4663440" y="50327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i="1" dirty="0">
                <a:solidFill>
                  <a:srgbClr val="1E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EEA: nunca compartir datos personales completos de alumnos, finanzas internas, ni contraseñas.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229600" y="183236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F2F3F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Shape 15"/>
          <p:cNvSpPr/>
          <p:nvPr/>
        </p:nvSpPr>
        <p:spPr>
          <a:xfrm>
            <a:off x="8503920" y="2106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227127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03920" y="2929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8503920" y="33868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acelera, no reemplaza el criterio. Si no puedes explicar lo que generó, no lo envíes tal cual.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8503920" y="4895600"/>
            <a:ext cx="3108960" cy="9144"/>
          </a:xfrm>
          <a:prstGeom prst="rect">
            <a:avLst/>
          </a:prstGeom>
          <a:solidFill>
            <a:srgbClr val="E5E5EA"/>
          </a:solidFill>
          <a:ln/>
        </p:spPr>
        <p:txBody>
          <a:bodyPr/>
          <a:lstStyle/>
          <a:p>
            <a:pPr algn="just"/>
            <a:endParaRPr lang="es-PE" sz="2400"/>
          </a:p>
        </p:txBody>
      </p:sp>
      <p:sp>
        <p:nvSpPr>
          <p:cNvPr id="24" name="Text 19"/>
          <p:cNvSpPr/>
          <p:nvPr/>
        </p:nvSpPr>
        <p:spPr>
          <a:xfrm>
            <a:off x="8503920" y="50327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i="1" dirty="0">
                <a:solidFill>
                  <a:srgbClr val="1E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revisa, valida y aporta criterio — siempre.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LA SESIÓN 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sigue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5C842"/>
          </a:solidFill>
          <a:ln/>
        </p:spPr>
        <p:txBody>
          <a:bodyPr/>
          <a:lstStyle/>
          <a:p>
            <a:pPr algn="just"/>
            <a:endParaRPr lang="es-PE" sz="2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103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Kahoot — autoevaluación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68680" y="2697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preguntas sobre lo visto hoy. Disponible también en el Google Site como repaso.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E2D6B"/>
          </a:solidFill>
          <a:ln/>
        </p:spPr>
        <p:txBody>
          <a:bodyPr/>
          <a:lstStyle/>
          <a:p>
            <a:pPr algn="just"/>
            <a:endParaRPr lang="es-PE" sz="2400"/>
          </a:p>
        </p:txBody>
      </p:sp>
      <p:sp>
        <p:nvSpPr>
          <p:cNvPr id="9" name="Text 6"/>
          <p:cNvSpPr/>
          <p:nvPr/>
        </p:nvSpPr>
        <p:spPr>
          <a:xfrm>
            <a:off x="6583680" y="2103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prompts EEA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583680" y="2697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colaborativo en el Google Site del curso — se construye sesión por sesión con los prompts validados.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3886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b="1" kern="0" spc="1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sesiones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448056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1E2D6B"/>
          </a:solidFill>
          <a:ln/>
        </p:spPr>
        <p:txBody>
          <a:bodyPr/>
          <a:lstStyle/>
          <a:p>
            <a:pPr algn="just"/>
            <a:endParaRPr lang="es-PE" sz="2400"/>
          </a:p>
        </p:txBody>
      </p:sp>
      <p:sp>
        <p:nvSpPr>
          <p:cNvPr id="13" name="Text 10"/>
          <p:cNvSpPr/>
          <p:nvPr/>
        </p:nvSpPr>
        <p:spPr>
          <a:xfrm>
            <a:off x="77724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A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7724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y Soporte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7240" y="5532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A2 — Ventas, gestión y reportes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389120" y="448056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1E2D6B"/>
          </a:solidFill>
          <a:ln/>
        </p:spPr>
        <p:txBody>
          <a:bodyPr/>
          <a:lstStyle/>
          <a:p>
            <a:pPr algn="just"/>
            <a:endParaRPr lang="es-PE" sz="2400"/>
          </a:p>
        </p:txBody>
      </p:sp>
      <p:sp>
        <p:nvSpPr>
          <p:cNvPr id="17" name="Text 14"/>
          <p:cNvSpPr/>
          <p:nvPr/>
        </p:nvSpPr>
        <p:spPr>
          <a:xfrm>
            <a:off x="461772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B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61772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Académico y Administrativo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617720" y="5532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B2 — Material didáctico y coordinación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229600" y="448056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1E2D6B"/>
          </a:solidFill>
          <a:ln/>
        </p:spPr>
        <p:txBody>
          <a:bodyPr/>
          <a:lstStyle/>
          <a:p>
            <a:pPr algn="just"/>
            <a:endParaRPr lang="es-PE" sz="2400"/>
          </a:p>
        </p:txBody>
      </p:sp>
      <p:sp>
        <p:nvSpPr>
          <p:cNvPr id="21" name="Text 18"/>
          <p:cNvSpPr/>
          <p:nvPr/>
        </p:nvSpPr>
        <p:spPr>
          <a:xfrm>
            <a:off x="845820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C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845820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y Creativo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458200" y="5532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C2 — Contenido y análisis de métricas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Vitaminas Tecnológicas  ·  @vitaminas_tecnologicas  ·  TEM-EEA-001-2026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1297</Words>
  <Application>Microsoft Macintosh PowerPoint</Application>
  <PresentationFormat>Panorámica</PresentationFormat>
  <Paragraphs>167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0 - Fundamentos de IA - Elite Expert Academy</dc:title>
  <dc:subject>PptxGenJS Presentation</dc:subject>
  <dc:creator>Liliana Bayona Castañeda</dc:creator>
  <cp:lastModifiedBy>Liliana Bayona</cp:lastModifiedBy>
  <cp:revision>11</cp:revision>
  <cp:lastPrinted>2026-06-13T06:32:55Z</cp:lastPrinted>
  <dcterms:created xsi:type="dcterms:W3CDTF">2026-06-13T05:44:48Z</dcterms:created>
  <dcterms:modified xsi:type="dcterms:W3CDTF">2026-06-13T06:38:35Z</dcterms:modified>
</cp:coreProperties>
</file>